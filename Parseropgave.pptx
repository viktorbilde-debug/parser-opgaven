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3" r:id="rId5"/>
    <p:sldId id="258" r:id="rId6"/>
    <p:sldId id="264" r:id="rId7"/>
    <p:sldId id="260" r:id="rId8"/>
    <p:sldId id="261" r:id="rId9"/>
    <p:sldId id="265" r:id="rId10"/>
    <p:sldId id="262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02F957-913F-B014-BC75-6F22189B9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EC0218F0-CFA7-B525-0866-E6615FC81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7EE324A-2873-D692-0825-EBEB208BB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B1FD58E-483A-F6DF-231C-82674DEB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4454FB6-1D6C-BB82-58BC-FBE79B94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89768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A9820-733D-F07A-486C-9D6902329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203AF1E-AD83-DC9F-0172-7E1A5B94E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1A06D764-A5B2-E607-A479-81F177973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5F2221E-08B0-9CC9-1292-BC7C1C98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A4DC69B-EBCB-4892-A006-CB88E04E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37936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238B03-8DB3-F295-33DA-50C63F918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605DA2F-7CF4-C2F4-BD2A-0C10F2728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A2A0198-975B-BCE5-9F3E-06BC66DB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6A253BB-E4C8-6DCC-C0FE-77137ADD8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3A58FAA6-62F3-4572-017A-E7E87A4D8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388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F31098-FCCF-BFC6-41DF-C8A3ED09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005E2F2-0133-C145-F1C9-5E76B95F6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F0F15824-7625-1DDE-CE54-5F224A789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5B8F3F7F-99DE-6C87-ACC8-30B274C49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73CC573-B7C3-EF0C-0CE7-A26E97022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08A9F222-3BD1-A60E-AE68-E3E7513F6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652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369CD2-B931-9441-F76E-B0F7F975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90A6A7D-7430-DDFF-99D8-EC8BAFC2A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CAE82A73-8552-3D0F-EE6B-CF0A27C798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17E4E2D-501B-6076-4527-18FFB8AB4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C4AC6E61-E86B-24A2-4E7B-FD2398B90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7155E3BD-AF17-2171-797F-D70802F3F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632F9F9B-8A3A-6DED-B499-9595C3F6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FF5195AC-E6C7-E4DC-1552-0B373E72B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0774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7948C5-A930-F37D-0868-23EAC8C14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D21C1DB-DB8E-6615-F5FC-668AD25A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912EF42-56A2-4FD0-9C82-09791562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23806A22-5C0F-3865-174B-99AA62CE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5860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6F6B669-B69E-7EE2-3668-B0645539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2AC22D98-E3D8-C736-8990-E8E989C6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065B1A5-28F0-3064-0D1D-EFA3106DD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1880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94B96A-6C12-5FE3-E494-BBD535BB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61F6D63-0D69-F976-920D-90DB6BABA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0EC1EBC-2A09-D6FA-B97F-26536263A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836D4B1-711B-9673-4441-31C11403D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D5DC901-8CB7-F52B-F7F8-D0A211F0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0F11461-B4FE-CCA4-994D-D211C0D8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04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931E78-930C-B0C1-AE31-A4D5B2EA3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C98D2CAF-E8F3-8912-A9F2-78C6C02B6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CAE2C44-654F-9F4F-10CC-46718D2D5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FF25071-260A-BDFE-055A-D2730ECAF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C35C3BF-25F4-6DEE-B807-61D822BA7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2CE7EDA-A23F-04A4-A799-6EA68891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5988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A3CCD-CCAC-19E2-2153-7A6C83B7F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6EA6F5E-0B53-9913-8B36-4BFB3413D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7998C11-F68F-DCDF-3D47-251C106D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928A8F-94A2-10C0-FFFF-571A799A1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D5AA7A6C-F826-B041-9072-867529DB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7073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55E777B6-46F1-737B-8E87-AC55EAA03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CDF1475F-B771-A4E2-9A87-6AE20682C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4315CB6B-3415-9B99-DC26-1A02C4F51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FEE4C46-5D42-B96C-AD66-AA493561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26F0CF3-3F54-0409-859A-704D97D1C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943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F05C2783-56B8-A513-A6CB-68FD5873D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C63A2B9-48FB-B07B-9A81-A58432177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6AB27BA-C741-9432-33D7-5B095127C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51573-EB70-4F91-8888-E4C8DDA9E69C}" type="datetimeFigureOut">
              <a:rPr lang="da-DK" smtClean="0"/>
              <a:t>23-09-2026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B4FAB8A5-6849-8438-872A-539B9C2D1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C90BAB5-CBDA-1B71-2EC5-FAA440CEE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5A172-448C-4FD9-B2F6-F3DD06A0989D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5291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63D6D0-9622-996E-C92B-6D23F7E7D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9404" y="440245"/>
            <a:ext cx="8013192" cy="1159955"/>
          </a:xfrm>
        </p:spPr>
        <p:txBody>
          <a:bodyPr/>
          <a:lstStyle/>
          <a:p>
            <a:r>
              <a:rPr lang="da-DK" dirty="0"/>
              <a:t>Parseropgave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FA08FC3C-6CDC-FE11-F8A0-E94A198D2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3456" y="1626934"/>
            <a:ext cx="9144000" cy="1655762"/>
          </a:xfrm>
        </p:spPr>
        <p:txBody>
          <a:bodyPr/>
          <a:lstStyle/>
          <a:p>
            <a:r>
              <a:rPr lang="da-DK" dirty="0"/>
              <a:t>Viktor Bilde</a:t>
            </a:r>
          </a:p>
          <a:p>
            <a:r>
              <a:rPr lang="da-DK" dirty="0"/>
              <a:t>Specialisterne Academy 2026</a:t>
            </a:r>
          </a:p>
        </p:txBody>
      </p:sp>
      <p:sp>
        <p:nvSpPr>
          <p:cNvPr id="5" name="Pil: højre 4">
            <a:extLst>
              <a:ext uri="{FF2B5EF4-FFF2-40B4-BE49-F238E27FC236}">
                <a16:creationId xmlns:a16="http://schemas.microsoft.com/office/drawing/2014/main" id="{E5522CDA-029F-0D61-A72B-E9CF5A911917}"/>
              </a:ext>
            </a:extLst>
          </p:cNvPr>
          <p:cNvSpPr/>
          <p:nvPr/>
        </p:nvSpPr>
        <p:spPr>
          <a:xfrm>
            <a:off x="4748784" y="3849624"/>
            <a:ext cx="3339084" cy="129844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Parser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D22A76D8-D796-8372-4A26-6BD9074B1C99}"/>
              </a:ext>
            </a:extLst>
          </p:cNvPr>
          <p:cNvSpPr/>
          <p:nvPr/>
        </p:nvSpPr>
        <p:spPr>
          <a:xfrm>
            <a:off x="67056" y="2842435"/>
            <a:ext cx="4544568" cy="37311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navn</a:t>
            </a:r>
            <a:r>
              <a:rPr lang="en-US" dirty="0"/>
              <a:t>, by</a:t>
            </a:r>
          </a:p>
          <a:p>
            <a:pPr algn="ctr"/>
            <a:r>
              <a:rPr lang="en-US" dirty="0" err="1"/>
              <a:t>Ib</a:t>
            </a:r>
            <a:r>
              <a:rPr lang="en-US" dirty="0"/>
              <a:t>, Biby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da-DK" dirty="0" err="1"/>
              <a:t>Hans,Obiby</a:t>
            </a:r>
            <a:endParaRPr lang="da-DK" dirty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BF84CA3E-993B-23F6-D1C2-6FEB3CDFCEC7}"/>
              </a:ext>
            </a:extLst>
          </p:cNvPr>
          <p:cNvSpPr txBox="1"/>
          <p:nvPr/>
        </p:nvSpPr>
        <p:spPr>
          <a:xfrm>
            <a:off x="844296" y="2382838"/>
            <a:ext cx="299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CSV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43295328-EFF6-C363-9D7F-456D1F989C63}"/>
              </a:ext>
            </a:extLst>
          </p:cNvPr>
          <p:cNvSpPr/>
          <p:nvPr/>
        </p:nvSpPr>
        <p:spPr>
          <a:xfrm>
            <a:off x="8225028" y="2935224"/>
            <a:ext cx="3762756" cy="34185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[{</a:t>
            </a:r>
            <a:r>
              <a:rPr lang="da-DK" dirty="0" err="1"/>
              <a:t>navn:Ib,by</a:t>
            </a:r>
            <a:r>
              <a:rPr lang="da-DK" dirty="0"/>
              <a:t>: </a:t>
            </a:r>
            <a:r>
              <a:rPr lang="da-DK" dirty="0" err="1"/>
              <a:t>Biby</a:t>
            </a:r>
            <a:r>
              <a:rPr lang="da-DK" dirty="0"/>
              <a:t>}]</a:t>
            </a:r>
          </a:p>
          <a:p>
            <a:pPr algn="ctr"/>
            <a:endParaRPr lang="da-DK" dirty="0"/>
          </a:p>
          <a:p>
            <a:pPr algn="ctr"/>
            <a:endParaRPr lang="da-DK" dirty="0"/>
          </a:p>
          <a:p>
            <a:pPr algn="ctr"/>
            <a:endParaRPr lang="da-DK" dirty="0"/>
          </a:p>
          <a:p>
            <a:pPr algn="ctr"/>
            <a:r>
              <a:rPr lang="da-DK" dirty="0"/>
              <a:t>[[</a:t>
            </a:r>
            <a:r>
              <a:rPr lang="da-DK" dirty="0" err="1"/>
              <a:t>Hans,Obiby</a:t>
            </a:r>
            <a:r>
              <a:rPr lang="da-DK" dirty="0"/>
              <a:t>]]</a:t>
            </a:r>
          </a:p>
          <a:p>
            <a:pPr algn="ctr"/>
            <a:endParaRPr lang="da-DK" dirty="0"/>
          </a:p>
          <a:p>
            <a:pPr algn="ctr"/>
            <a:endParaRPr lang="da-DK" dirty="0"/>
          </a:p>
          <a:p>
            <a:pPr algn="ctr"/>
            <a:endParaRPr lang="da-DK" dirty="0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469ABCE3-3E0F-711B-CC92-9508EEB93F9D}"/>
              </a:ext>
            </a:extLst>
          </p:cNvPr>
          <p:cNvSpPr txBox="1"/>
          <p:nvPr/>
        </p:nvSpPr>
        <p:spPr>
          <a:xfrm>
            <a:off x="9054084" y="2454815"/>
            <a:ext cx="2372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Datastruktur</a:t>
            </a:r>
          </a:p>
        </p:txBody>
      </p:sp>
    </p:spTree>
    <p:extLst>
      <p:ext uri="{BB962C8B-B14F-4D97-AF65-F5344CB8AC3E}">
        <p14:creationId xmlns:p14="http://schemas.microsoft.com/office/powerpoint/2010/main" val="1494387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D1567-A11A-B4A0-B754-19C12536F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Agenda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CA64EDD-78ED-1072-FCAB-DE1FB0BA9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03284"/>
            <a:ext cx="10515600" cy="2051431"/>
          </a:xfrm>
        </p:spPr>
        <p:txBody>
          <a:bodyPr>
            <a:normAutofit fontScale="92500" lnSpcReduction="20000"/>
          </a:bodyPr>
          <a:lstStyle/>
          <a:p>
            <a:r>
              <a:rPr lang="da-DK" dirty="0"/>
              <a:t>Hvad er en parser?</a:t>
            </a:r>
          </a:p>
          <a:p>
            <a:r>
              <a:rPr lang="da-DK" dirty="0"/>
              <a:t>Særlige funktioner</a:t>
            </a:r>
          </a:p>
          <a:p>
            <a:r>
              <a:rPr lang="da-DK" dirty="0"/>
              <a:t>UML diagram</a:t>
            </a:r>
          </a:p>
          <a:p>
            <a:r>
              <a:rPr lang="da-DK" dirty="0"/>
              <a:t>Demo af min parser</a:t>
            </a:r>
          </a:p>
          <a:p>
            <a:r>
              <a:rPr lang="da-DK" dirty="0"/>
              <a:t>Hvis jeg havde mere tid</a:t>
            </a:r>
          </a:p>
        </p:txBody>
      </p:sp>
    </p:spTree>
    <p:extLst>
      <p:ext uri="{BB962C8B-B14F-4D97-AF65-F5344CB8AC3E}">
        <p14:creationId xmlns:p14="http://schemas.microsoft.com/office/powerpoint/2010/main" val="289326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340E-CA9A-FF76-4F1B-85341922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1FC652-C7A8-C163-A2E9-301E8DD07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9404" y="230752"/>
            <a:ext cx="8013192" cy="1159955"/>
          </a:xfrm>
        </p:spPr>
        <p:txBody>
          <a:bodyPr/>
          <a:lstStyle/>
          <a:p>
            <a:r>
              <a:rPr lang="da-DK" dirty="0"/>
              <a:t>Hvad er en parser?</a:t>
            </a:r>
          </a:p>
        </p:txBody>
      </p:sp>
      <p:sp>
        <p:nvSpPr>
          <p:cNvPr id="5" name="Pil: højre 4">
            <a:extLst>
              <a:ext uri="{FF2B5EF4-FFF2-40B4-BE49-F238E27FC236}">
                <a16:creationId xmlns:a16="http://schemas.microsoft.com/office/drawing/2014/main" id="{AB603042-E518-0057-5ED7-851DAABD1F20}"/>
              </a:ext>
            </a:extLst>
          </p:cNvPr>
          <p:cNvSpPr/>
          <p:nvPr/>
        </p:nvSpPr>
        <p:spPr>
          <a:xfrm>
            <a:off x="4613148" y="2509853"/>
            <a:ext cx="3339084" cy="129844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Parser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41B62-5E74-9EE6-23B8-0B7795C21461}"/>
              </a:ext>
            </a:extLst>
          </p:cNvPr>
          <p:cNvSpPr/>
          <p:nvPr/>
        </p:nvSpPr>
        <p:spPr>
          <a:xfrm>
            <a:off x="256032" y="1641039"/>
            <a:ext cx="4136136" cy="33469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navn</a:t>
            </a:r>
            <a:r>
              <a:rPr lang="en-US" dirty="0"/>
              <a:t>, by</a:t>
            </a:r>
          </a:p>
          <a:p>
            <a:pPr algn="ctr"/>
            <a:r>
              <a:rPr lang="en-US" dirty="0" err="1"/>
              <a:t>Ib</a:t>
            </a:r>
            <a:r>
              <a:rPr lang="en-US" dirty="0"/>
              <a:t>, Biby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r>
              <a:rPr lang="da-DK" dirty="0" err="1"/>
              <a:t>Hans,Obiby</a:t>
            </a:r>
            <a:endParaRPr lang="da-DK" dirty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97395C7C-9CE9-5986-61BB-74F5D6602EAA}"/>
              </a:ext>
            </a:extLst>
          </p:cNvPr>
          <p:cNvSpPr txBox="1"/>
          <p:nvPr/>
        </p:nvSpPr>
        <p:spPr>
          <a:xfrm>
            <a:off x="829056" y="1123106"/>
            <a:ext cx="2990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CSV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CAA07101-5063-DBCA-6445-C28FE0E84675}"/>
              </a:ext>
            </a:extLst>
          </p:cNvPr>
          <p:cNvSpPr/>
          <p:nvPr/>
        </p:nvSpPr>
        <p:spPr>
          <a:xfrm>
            <a:off x="8173212" y="1632362"/>
            <a:ext cx="3762756" cy="34185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[{</a:t>
            </a:r>
            <a:r>
              <a:rPr lang="da-DK" dirty="0" err="1"/>
              <a:t>navn:Ib,by</a:t>
            </a:r>
            <a:r>
              <a:rPr lang="da-DK" dirty="0"/>
              <a:t>: </a:t>
            </a:r>
            <a:r>
              <a:rPr lang="da-DK" dirty="0" err="1"/>
              <a:t>Biby</a:t>
            </a:r>
            <a:r>
              <a:rPr lang="da-DK" dirty="0"/>
              <a:t>}]</a:t>
            </a:r>
          </a:p>
          <a:p>
            <a:pPr algn="ctr"/>
            <a:endParaRPr lang="da-DK" dirty="0"/>
          </a:p>
          <a:p>
            <a:pPr algn="ctr"/>
            <a:endParaRPr lang="da-DK" dirty="0"/>
          </a:p>
          <a:p>
            <a:pPr algn="ctr"/>
            <a:endParaRPr lang="da-DK" dirty="0"/>
          </a:p>
          <a:p>
            <a:pPr algn="ctr"/>
            <a:r>
              <a:rPr lang="da-DK" dirty="0"/>
              <a:t>[[</a:t>
            </a:r>
            <a:r>
              <a:rPr lang="da-DK" dirty="0" err="1"/>
              <a:t>Hans,Obiby</a:t>
            </a:r>
            <a:r>
              <a:rPr lang="da-DK" dirty="0"/>
              <a:t>]]</a:t>
            </a:r>
          </a:p>
          <a:p>
            <a:pPr algn="ctr"/>
            <a:endParaRPr lang="da-DK" dirty="0"/>
          </a:p>
          <a:p>
            <a:pPr algn="ctr"/>
            <a:endParaRPr lang="da-DK" dirty="0"/>
          </a:p>
          <a:p>
            <a:pPr algn="ctr"/>
            <a:endParaRPr lang="da-DK" dirty="0"/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6DBC69A2-B372-9DC6-0444-82C0FD9EE28B}"/>
              </a:ext>
            </a:extLst>
          </p:cNvPr>
          <p:cNvSpPr txBox="1"/>
          <p:nvPr/>
        </p:nvSpPr>
        <p:spPr>
          <a:xfrm>
            <a:off x="8916162" y="1130644"/>
            <a:ext cx="2372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dirty="0"/>
              <a:t>Datastruktur</a:t>
            </a:r>
          </a:p>
        </p:txBody>
      </p:sp>
      <p:sp>
        <p:nvSpPr>
          <p:cNvPr id="4" name="Pil: højre 3">
            <a:extLst>
              <a:ext uri="{FF2B5EF4-FFF2-40B4-BE49-F238E27FC236}">
                <a16:creationId xmlns:a16="http://schemas.microsoft.com/office/drawing/2014/main" id="{E826E104-6989-A6CF-80C7-A72EA0B03D82}"/>
              </a:ext>
            </a:extLst>
          </p:cNvPr>
          <p:cNvSpPr/>
          <p:nvPr/>
        </p:nvSpPr>
        <p:spPr>
          <a:xfrm rot="8380709">
            <a:off x="8351689" y="5060579"/>
            <a:ext cx="529101" cy="53263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6" name="Pil: nedad 5">
            <a:extLst>
              <a:ext uri="{FF2B5EF4-FFF2-40B4-BE49-F238E27FC236}">
                <a16:creationId xmlns:a16="http://schemas.microsoft.com/office/drawing/2014/main" id="{663EB04D-DAB2-3689-A570-0FC9777AE22A}"/>
              </a:ext>
            </a:extLst>
          </p:cNvPr>
          <p:cNvSpPr/>
          <p:nvPr/>
        </p:nvSpPr>
        <p:spPr>
          <a:xfrm>
            <a:off x="9892284" y="5225638"/>
            <a:ext cx="704088" cy="475488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7" name="Rektangel: afrundede hjørner 6">
            <a:extLst>
              <a:ext uri="{FF2B5EF4-FFF2-40B4-BE49-F238E27FC236}">
                <a16:creationId xmlns:a16="http://schemas.microsoft.com/office/drawing/2014/main" id="{79E3C49A-FD1A-A166-59DF-8E106428BA4B}"/>
              </a:ext>
            </a:extLst>
          </p:cNvPr>
          <p:cNvSpPr/>
          <p:nvPr/>
        </p:nvSpPr>
        <p:spPr>
          <a:xfrm>
            <a:off x="6999617" y="5817262"/>
            <a:ext cx="1418082" cy="62179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Analyser</a:t>
            </a:r>
          </a:p>
        </p:txBody>
      </p:sp>
      <p:sp>
        <p:nvSpPr>
          <p:cNvPr id="13" name="Rektangel: afrundede hjørner 12">
            <a:extLst>
              <a:ext uri="{FF2B5EF4-FFF2-40B4-BE49-F238E27FC236}">
                <a16:creationId xmlns:a16="http://schemas.microsoft.com/office/drawing/2014/main" id="{D7111985-DAA4-E4C8-51AE-ADDE0C5496AF}"/>
              </a:ext>
            </a:extLst>
          </p:cNvPr>
          <p:cNvSpPr/>
          <p:nvPr/>
        </p:nvSpPr>
        <p:spPr>
          <a:xfrm>
            <a:off x="9538906" y="5817262"/>
            <a:ext cx="1822323" cy="62179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Problemløsning</a:t>
            </a:r>
          </a:p>
        </p:txBody>
      </p:sp>
      <p:sp>
        <p:nvSpPr>
          <p:cNvPr id="14" name="Pil: venstre-højre 13">
            <a:extLst>
              <a:ext uri="{FF2B5EF4-FFF2-40B4-BE49-F238E27FC236}">
                <a16:creationId xmlns:a16="http://schemas.microsoft.com/office/drawing/2014/main" id="{B9F17FAB-36C4-A023-713C-6DD8BD8B70FA}"/>
              </a:ext>
            </a:extLst>
          </p:cNvPr>
          <p:cNvSpPr/>
          <p:nvPr/>
        </p:nvSpPr>
        <p:spPr>
          <a:xfrm>
            <a:off x="8441626" y="5922418"/>
            <a:ext cx="1097280" cy="411480"/>
          </a:xfrm>
          <a:prstGeom prst="leftRightArrow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6605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C76B40-40E2-9BE5-3441-C0A69FA8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Udfordringer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C69DDF-E3F2-C053-9A72-1DADA00D8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Class eller funktion. Næste slide hvorfor class</a:t>
            </a:r>
          </a:p>
          <a:p>
            <a:r>
              <a:rPr lang="da-DK" dirty="0"/>
              <a:t>Hvilken datastruktur giver bedst mening?</a:t>
            </a:r>
          </a:p>
          <a:p>
            <a:pPr lvl="1"/>
            <a:r>
              <a:rPr lang="da-DK" dirty="0"/>
              <a:t>Header → [</a:t>
            </a:r>
            <a:r>
              <a:rPr lang="da-DK" dirty="0" err="1"/>
              <a:t>dict</a:t>
            </a:r>
            <a:r>
              <a:rPr lang="da-DK" dirty="0"/>
              <a:t>]</a:t>
            </a:r>
          </a:p>
          <a:p>
            <a:pPr lvl="1"/>
            <a:r>
              <a:rPr lang="da-DK" dirty="0"/>
              <a:t>Uden header → [[]]</a:t>
            </a:r>
          </a:p>
          <a:p>
            <a:r>
              <a:rPr lang="da-DK" dirty="0"/>
              <a:t>At finde frem til viden på egen hånd</a:t>
            </a:r>
          </a:p>
        </p:txBody>
      </p:sp>
    </p:spTree>
    <p:extLst>
      <p:ext uri="{BB962C8B-B14F-4D97-AF65-F5344CB8AC3E}">
        <p14:creationId xmlns:p14="http://schemas.microsoft.com/office/powerpoint/2010/main" val="181790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2B53A1-BA7B-8DBC-1A65-F28CD33AC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Særlige funktioner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6D18513-66DF-DB81-1C79-179052D04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5585"/>
            <a:ext cx="10515600" cy="4351338"/>
          </a:xfrm>
        </p:spPr>
        <p:txBody>
          <a:bodyPr/>
          <a:lstStyle/>
          <a:p>
            <a:r>
              <a:rPr lang="da-DK" dirty="0"/>
              <a:t>Parser som en class:</a:t>
            </a:r>
          </a:p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701AE19-2ED9-FA33-DE38-8BEB7F27F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84" y="1989555"/>
            <a:ext cx="8158027" cy="1516677"/>
          </a:xfrm>
          <a:prstGeom prst="rect">
            <a:avLst/>
          </a:prstGeom>
        </p:spPr>
      </p:pic>
      <p:pic>
        <p:nvPicPr>
          <p:cNvPr id="9" name="Billede 8">
            <a:extLst>
              <a:ext uri="{FF2B5EF4-FFF2-40B4-BE49-F238E27FC236}">
                <a16:creationId xmlns:a16="http://schemas.microsoft.com/office/drawing/2014/main" id="{A6BABC31-8B66-1865-85ED-6E5E15142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079" y="3681254"/>
            <a:ext cx="5443538" cy="2980769"/>
          </a:xfrm>
          <a:prstGeom prst="rect">
            <a:avLst/>
          </a:prstGeom>
        </p:spPr>
      </p:pic>
      <p:sp>
        <p:nvSpPr>
          <p:cNvPr id="10" name="Rektangel 9">
            <a:extLst>
              <a:ext uri="{FF2B5EF4-FFF2-40B4-BE49-F238E27FC236}">
                <a16:creationId xmlns:a16="http://schemas.microsoft.com/office/drawing/2014/main" id="{6D42A402-F0E0-BB0E-1A3C-27256633E166}"/>
              </a:ext>
            </a:extLst>
          </p:cNvPr>
          <p:cNvSpPr/>
          <p:nvPr/>
        </p:nvSpPr>
        <p:spPr>
          <a:xfrm>
            <a:off x="6994428" y="4311332"/>
            <a:ext cx="4359372" cy="16897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 err="1"/>
              <a:t>Parser_no_head</a:t>
            </a:r>
            <a:r>
              <a:rPr lang="da-DK" dirty="0"/>
              <a:t>=Parser(header=False)</a:t>
            </a:r>
          </a:p>
          <a:p>
            <a:pPr algn="ctr"/>
            <a:r>
              <a:rPr lang="da-DK" dirty="0" err="1"/>
              <a:t>Parser_sep_dif</a:t>
            </a:r>
            <a:r>
              <a:rPr lang="da-DK" dirty="0"/>
              <a:t>=(</a:t>
            </a:r>
            <a:r>
              <a:rPr lang="da-DK" dirty="0" err="1"/>
              <a:t>seperator</a:t>
            </a:r>
            <a:r>
              <a:rPr lang="da-DK" dirty="0"/>
              <a:t>=”/s ”)</a:t>
            </a:r>
          </a:p>
          <a:p>
            <a:pPr algn="ctr"/>
            <a:endParaRPr lang="da-DK" dirty="0"/>
          </a:p>
          <a:p>
            <a:pPr algn="ctr"/>
            <a:r>
              <a:rPr lang="da-DK" dirty="0" err="1"/>
              <a:t>Parser_no_head.parse</a:t>
            </a:r>
            <a:r>
              <a:rPr lang="da-DK" dirty="0"/>
              <a:t>(”Hans, </a:t>
            </a:r>
            <a:r>
              <a:rPr lang="da-DK" dirty="0" err="1"/>
              <a:t>Obiby</a:t>
            </a:r>
            <a:r>
              <a:rPr lang="da-DK" dirty="0"/>
              <a:t>”)</a:t>
            </a:r>
          </a:p>
          <a:p>
            <a:pPr algn="ctr"/>
            <a:r>
              <a:rPr lang="da-DK" dirty="0" err="1"/>
              <a:t>Parser_sep_dif.parse</a:t>
            </a:r>
            <a:r>
              <a:rPr lang="da-DK" dirty="0"/>
              <a:t>(”Hans/</a:t>
            </a:r>
            <a:r>
              <a:rPr lang="da-DK" dirty="0" err="1"/>
              <a:t>sObiby</a:t>
            </a:r>
            <a:r>
              <a:rPr lang="da-DK" dirty="0"/>
              <a:t> ”)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71E7D8F1-3C8A-04B9-0D32-F31ACA9861B1}"/>
              </a:ext>
            </a:extLst>
          </p:cNvPr>
          <p:cNvSpPr txBox="1"/>
          <p:nvPr/>
        </p:nvSpPr>
        <p:spPr>
          <a:xfrm>
            <a:off x="6907547" y="3724116"/>
            <a:ext cx="399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Forskellige parsere mulige:</a:t>
            </a:r>
          </a:p>
        </p:txBody>
      </p:sp>
    </p:spTree>
    <p:extLst>
      <p:ext uri="{BB962C8B-B14F-4D97-AF65-F5344CB8AC3E}">
        <p14:creationId xmlns:p14="http://schemas.microsoft.com/office/powerpoint/2010/main" val="979594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640CE-B359-C502-D5FE-2C086BD2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Særlige funktioner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A4C80449-42F7-02F3-176C-58786BAD9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Manual </a:t>
            </a:r>
            <a:r>
              <a:rPr lang="da-DK" dirty="0" err="1"/>
              <a:t>seperator</a:t>
            </a:r>
            <a:r>
              <a:rPr lang="da-DK" dirty="0"/>
              <a:t> og hensyn til </a:t>
            </a:r>
            <a:r>
              <a:rPr lang="da-DK" dirty="0" err="1"/>
              <a:t>quotation</a:t>
            </a:r>
            <a:r>
              <a:rPr lang="da-DK" dirty="0"/>
              <a:t>:</a:t>
            </a:r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D1A8F63A-4074-6901-6774-F0F3A5DB9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29059"/>
            <a:ext cx="5515745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168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75D01E-D5F9-FFB2-3B97-7FE24215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UML diagram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E1842303-7971-EAD8-2F0F-2B88C79F1CAD}"/>
              </a:ext>
            </a:extLst>
          </p:cNvPr>
          <p:cNvSpPr txBox="1"/>
          <p:nvPr/>
        </p:nvSpPr>
        <p:spPr>
          <a:xfrm>
            <a:off x="838200" y="1321356"/>
            <a:ext cx="3401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Enkel med header og ikke JSON:</a:t>
            </a:r>
          </a:p>
        </p:txBody>
      </p:sp>
      <p:pic>
        <p:nvPicPr>
          <p:cNvPr id="9" name="Billede 8">
            <a:extLst>
              <a:ext uri="{FF2B5EF4-FFF2-40B4-BE49-F238E27FC236}">
                <a16:creationId xmlns:a16="http://schemas.microsoft.com/office/drawing/2014/main" id="{63A12A76-3EAE-B98C-25D1-8E63C1CAE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676" y="573556"/>
            <a:ext cx="6705124" cy="571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1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5D472D-CBB3-D4D2-6744-7B0DE3F1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 af parser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93DFFF5-61F5-3E8B-2721-726EFA21C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728"/>
            <a:ext cx="10710672" cy="4831207"/>
          </a:xfrm>
        </p:spPr>
        <p:txBody>
          <a:bodyPr>
            <a:normAutofit fontScale="92500"/>
          </a:bodyPr>
          <a:lstStyle/>
          <a:p>
            <a:r>
              <a:rPr lang="da-DK" dirty="0" err="1"/>
              <a:t>csv</a:t>
            </a:r>
            <a:r>
              <a:rPr lang="da-DK" dirty="0"/>
              <a:t>="</a:t>
            </a:r>
            <a:r>
              <a:rPr lang="da-DK" dirty="0" err="1"/>
              <a:t>name</a:t>
            </a:r>
            <a:r>
              <a:rPr lang="da-DK" dirty="0" err="1">
                <a:solidFill>
                  <a:srgbClr val="FF0000"/>
                </a:solidFill>
              </a:rPr>
              <a:t>,</a:t>
            </a:r>
            <a:r>
              <a:rPr lang="da-DK" dirty="0" err="1"/>
              <a:t>email</a:t>
            </a:r>
            <a:r>
              <a:rPr lang="da-DK" dirty="0">
                <a:solidFill>
                  <a:srgbClr val="FF0000"/>
                </a:solidFill>
              </a:rPr>
              <a:t>\</a:t>
            </a:r>
            <a:r>
              <a:rPr lang="da-DK" dirty="0" err="1">
                <a:solidFill>
                  <a:srgbClr val="FF0000"/>
                </a:solidFill>
              </a:rPr>
              <a:t>n</a:t>
            </a:r>
            <a:r>
              <a:rPr lang="da-DK" dirty="0" err="1"/>
              <a:t>Marcus</a:t>
            </a:r>
            <a:r>
              <a:rPr lang="da-DK" dirty="0"/>
              <a:t> </a:t>
            </a:r>
            <a:r>
              <a:rPr lang="da-DK" dirty="0" err="1"/>
              <a:t>Chen</a:t>
            </a:r>
            <a:r>
              <a:rPr lang="da-DK" dirty="0" err="1">
                <a:solidFill>
                  <a:srgbClr val="FF0000"/>
                </a:solidFill>
              </a:rPr>
              <a:t>,</a:t>
            </a:r>
            <a:r>
              <a:rPr lang="da-DK" dirty="0" err="1"/>
              <a:t>marcus.chen@example.com</a:t>
            </a:r>
            <a:r>
              <a:rPr lang="da-DK" dirty="0">
                <a:solidFill>
                  <a:srgbClr val="FF0000"/>
                </a:solidFill>
              </a:rPr>
              <a:t>\</a:t>
            </a:r>
            <a:r>
              <a:rPr lang="da-DK" dirty="0" err="1">
                <a:solidFill>
                  <a:srgbClr val="FF0000"/>
                </a:solidFill>
              </a:rPr>
              <a:t>n</a:t>
            </a:r>
            <a:r>
              <a:rPr lang="da-DK" dirty="0" err="1"/>
              <a:t>Priya</a:t>
            </a:r>
            <a:r>
              <a:rPr lang="da-DK" dirty="0"/>
              <a:t> </a:t>
            </a:r>
            <a:r>
              <a:rPr lang="da-DK" dirty="0" err="1"/>
              <a:t>Sharma</a:t>
            </a:r>
            <a:r>
              <a:rPr lang="da-DK" dirty="0" err="1">
                <a:solidFill>
                  <a:srgbClr val="FF0000"/>
                </a:solidFill>
              </a:rPr>
              <a:t>,</a:t>
            </a:r>
            <a:r>
              <a:rPr lang="da-DK" dirty="0" err="1"/>
              <a:t>priya.sharma@example.com</a:t>
            </a:r>
            <a:r>
              <a:rPr lang="da-DK" dirty="0"/>
              <a:t>”</a:t>
            </a:r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parser=Parser()</a:t>
            </a:r>
          </a:p>
          <a:p>
            <a:pPr lvl="1"/>
            <a:r>
              <a:rPr lang="da-DK" dirty="0"/>
              <a:t>Husk betyder header=</a:t>
            </a:r>
            <a:r>
              <a:rPr lang="da-DK" dirty="0" err="1"/>
              <a:t>True,seperator</a:t>
            </a:r>
            <a:r>
              <a:rPr lang="da-DK" dirty="0"/>
              <a:t>=",", </a:t>
            </a:r>
            <a:r>
              <a:rPr lang="da-DK" dirty="0" err="1"/>
              <a:t>lineseperator</a:t>
            </a:r>
            <a:r>
              <a:rPr lang="da-DK" dirty="0"/>
              <a:t>=["\n","\r"], </a:t>
            </a:r>
            <a:r>
              <a:rPr lang="da-DK" dirty="0" err="1"/>
              <a:t>Json</a:t>
            </a:r>
            <a:r>
              <a:rPr lang="da-DK" dirty="0"/>
              <a:t>=False</a:t>
            </a:r>
          </a:p>
          <a:p>
            <a:pPr marL="457200" lvl="1" indent="0">
              <a:buNone/>
            </a:pPr>
            <a:endParaRPr lang="da-DK" dirty="0"/>
          </a:p>
          <a:p>
            <a:r>
              <a:rPr lang="da-DK" dirty="0"/>
              <a:t>Print(</a:t>
            </a:r>
            <a:r>
              <a:rPr lang="da-DK" dirty="0" err="1"/>
              <a:t>parser.parse</a:t>
            </a:r>
            <a:r>
              <a:rPr lang="da-DK" dirty="0"/>
              <a:t>(CSV))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Output:</a:t>
            </a:r>
          </a:p>
          <a:p>
            <a:pPr marL="0" indent="0">
              <a:buNone/>
            </a:pPr>
            <a:r>
              <a:rPr lang="da-DK" dirty="0"/>
              <a:t>[{'</a:t>
            </a:r>
            <a:r>
              <a:rPr lang="da-DK" dirty="0" err="1"/>
              <a:t>name</a:t>
            </a:r>
            <a:r>
              <a:rPr lang="da-DK" dirty="0"/>
              <a:t>': 'Marcus Chen', '</a:t>
            </a:r>
            <a:r>
              <a:rPr lang="da-DK" dirty="0" err="1"/>
              <a:t>email</a:t>
            </a:r>
            <a:r>
              <a:rPr lang="da-DK" dirty="0"/>
              <a:t>': 'marcus.chen@example.com'}, {'</a:t>
            </a:r>
            <a:r>
              <a:rPr lang="da-DK" dirty="0" err="1"/>
              <a:t>name</a:t>
            </a:r>
            <a:r>
              <a:rPr lang="da-DK" dirty="0"/>
              <a:t>': 'Priya Sharma', '</a:t>
            </a:r>
            <a:r>
              <a:rPr lang="da-DK" dirty="0" err="1"/>
              <a:t>email</a:t>
            </a:r>
            <a:r>
              <a:rPr lang="da-DK" dirty="0"/>
              <a:t>': 'priya.sharma@example.com'}]</a:t>
            </a:r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858502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35205-40D6-9ABF-9C84-3DAB9CA2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Demo af parser(ekstra)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B192A0B-CBE9-2D4C-6BD1-33C181DED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06010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28694-89F1-88F1-5355-980347DBF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Hvis jeg havde mere tid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220C65-72A9-26FD-CFBC-EE52A711C2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Lave JSON formatering selv uden pakken JSON</a:t>
            </a:r>
          </a:p>
          <a:p>
            <a:r>
              <a:rPr lang="da-DK" dirty="0"/>
              <a:t>Lave bedre brugerinterface. Så brugeren bliver spurgt.</a:t>
            </a:r>
          </a:p>
          <a:p>
            <a:r>
              <a:rPr lang="da-DK" dirty="0"/>
              <a:t>Håndtere at kunne rette simple fejl selv. Eksempelvis trykfejl.</a:t>
            </a:r>
          </a:p>
        </p:txBody>
      </p:sp>
    </p:spTree>
    <p:extLst>
      <p:ext uri="{BB962C8B-B14F-4D97-AF65-F5344CB8AC3E}">
        <p14:creationId xmlns:p14="http://schemas.microsoft.com/office/powerpoint/2010/main" val="1447179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323</Words>
  <Application>Microsoft Office PowerPoint</Application>
  <PresentationFormat>Widescreen</PresentationFormat>
  <Paragraphs>75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Office-tema</vt:lpstr>
      <vt:lpstr>Parseropgave</vt:lpstr>
      <vt:lpstr>Agenda</vt:lpstr>
      <vt:lpstr>Hvad er en parser?</vt:lpstr>
      <vt:lpstr>Udfordringer</vt:lpstr>
      <vt:lpstr>Særlige funktioner</vt:lpstr>
      <vt:lpstr>Særlige funktioner</vt:lpstr>
      <vt:lpstr>UML diagram</vt:lpstr>
      <vt:lpstr>Demo af parser</vt:lpstr>
      <vt:lpstr>Demo af parser(ekstra)</vt:lpstr>
      <vt:lpstr>Hvis jeg havde mere tid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Viktor Lønberg Bilde</dc:creator>
  <cp:lastModifiedBy>Viktor Lønberg Bilde</cp:lastModifiedBy>
  <cp:revision>1</cp:revision>
  <dcterms:created xsi:type="dcterms:W3CDTF">2026-09-23T11:51:07Z</dcterms:created>
  <dcterms:modified xsi:type="dcterms:W3CDTF">2026-09-23T12:59:35Z</dcterms:modified>
</cp:coreProperties>
</file>